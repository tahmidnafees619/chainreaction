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8EEF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8EEFA"/>
                </a:solidFill>
                <a:latin typeface="Calibri"/>
              </a:rPr>
              <a:t>Win rate by pairing (100 games each, 7x6 board)</a:t>
            </a:r>
          </a:p>
        </c:rich>
      </c:tx>
      <c:layout/>
      <c:overlay val="0"/>
    </c:title>
    <c:autoTitleDeleted val="0"/>
    <c:plotArea>
      <c:layout/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Lower tier</c:v>
                </c:pt>
              </c:strCache>
            </c:strRef>
          </c:tx>
          <c:spPr>
            <a:solidFill>
              <a:srgbClr val="3A4A7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020"/>
                    </a:solidFill>
                    <a:latin typeface="Courier New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Easy vs Medium</c:v>
                  </c:pt>
                  <c:pt idx="1">
                    <c:v>Easy vs Hard</c:v>
                  </c:pt>
                  <c:pt idx="2">
                    <c:v>Medium vs Hard</c:v>
                  </c:pt>
                  <c:pt idx="3">
                    <c:v>Hard vs Hard*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</c:v>
                </c:pt>
                <c:pt idx="1">
                  <c:v>19</c:v>
                </c:pt>
                <c:pt idx="2">
                  <c:v>37</c:v>
                </c:pt>
                <c:pt idx="3">
                  <c:v>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Higher tier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020"/>
                    </a:solidFill>
                    <a:latin typeface="Courier New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Easy vs Medium</c:v>
                  </c:pt>
                  <c:pt idx="1">
                    <c:v>Easy vs Hard</c:v>
                  </c:pt>
                  <c:pt idx="2">
                    <c:v>Medium vs Hard</c:v>
                  </c:pt>
                  <c:pt idx="3">
                    <c:v>Hard vs Hard*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74</c:v>
                </c:pt>
                <c:pt idx="1">
                  <c:v>81</c:v>
                </c:pt>
                <c:pt idx="2">
                  <c:v>63</c:v>
                </c:pt>
                <c:pt idx="3">
                  <c:v>47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B1020"/>
                  </a:solidFill>
                  <a:latin typeface="Courier New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FA0C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E2942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FA0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02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8FA0C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102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[0:00-0:25] Open by introducing BOTH members by full name: 'Good morning. We are Group A. I am Md. Tahmidur Rahman Nafees, and this is Sakib Rahman Rohan.' Then: 'Our project is Chain Reaction: Nexus Protocol - the classic critical-mass capture game, rebuilt in the browser with zero dependencies and a tunable AI opponent.' Move on immediately - no long intro.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[0:25-1:00] Rules in three beats - place, explode, cascade - point at the grid, don't read the text. Land the hook: because one placement can recolour a huge fraction of the board, a move that LOOKS quiet can be decisive. That single fact drives every AI decision we made. Do not explain critical mass values here; that comes on the architecture/rules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[1:00-1:30] Read the four numbers as headlines, not sentences. Emphasise the middle one: three difficulty tiers come out of ONE evaluator - no separate bot code. Then one line per row underneath. Keep moving.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[1:30-2:05] Trace the arrows with your hand: input goes in through one method, everything comes back out as events. Stress the separation - the engine has no idea a screen exists. Say the payoff sentence out loud: 'that is what lets us unit-test the whole rulebook in plain Node with nothing installed.'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[2:05-2:40] Point at the grid: capacity is derived from neighbour count, not hard-coded - rule variants become configuration. Then the interesting bit: orbs are conserved, so a cascade can only stop by settling. That is a chip-firing / sandpile system, and those are not guaranteed to settle fast - so the wave cap is a liveness guarantee. Say plainly: we added it because a real board froze, not because a textbook told us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[2:40-3:15] Contrast with minimax in one sentence: instead of searching several plies over a crude evaluation, we search ONE ply over a very informative one - because in this game the resulting position is only knowable by resolving the cascade. Name the six features quickly, then flag 'threat' - opponent cells one orb from firing next to ours - as the one that looks ahead. That sets up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[3:15-3:55] This is the slide to slow down on - it is the intellectual core. Walk the worked example: identical positions, Medium prefers B, Hard prefers A, purely because Hard's threat weight is 1.4 against Medium's 0.6. Then the punchline: there is no if-difficulty anywhere in move selection. Difficulty is data, not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[3:55-4:35] Frame it as a finding, not a chore: none of these three are logic bugs, so a DOM-free unit test could not reach any of them by construction, and code review missed all three. The middle one is the crowd-pleaser - a perfectly rendered button that literally cannot be clicked. Conclusion in one line: headless unit tests prove the rules; only a real browser proves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[4:35-5:15] Read the gradient left to right, then jump to the baseline: two identical Hard agents split 53/47, which is exactly what a correct measurement should give. Add the honest bit - an early version of our tournament script tracked wins by difficulty LABEL instead of by contestant, and the same-tier baseline is what exposed it, because it printed an impossible 100/0. Close with latency: worst case is three orders of magnitude under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[5:15-5:45] Be brisk and honest - naming the limits buys credibility. The one sentence that matters: the single biggest structural gap is that the AI has no model of the opponent's reply, and that is exactly why a minimax head-to-head is our top future item. Read the two lessons as takeaways, then hand over to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[5:45-6:00] Hand off cleanly: 'That is the design - here is a minute of it actually running, and then we will walk the repository.' Play the video, then switch to GitHub and change register: on the repo, talk technically - file by file, name functions and events, show the commit history as evidence of continuous teamwork. Budget roughly 4 minutes there and keep an eye on the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914400"/>
            <a:ext cx="310896" cy="310896"/>
          </a:xfrm>
          <a:prstGeom prst="ellipse">
            <a:avLst/>
          </a:prstGeom>
          <a:solidFill>
            <a:srgbClr val="22D3EE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1554480"/>
            <a:ext cx="310896" cy="310896"/>
          </a:xfrm>
          <a:prstGeom prst="ellipse">
            <a:avLst/>
          </a:prstGeom>
          <a:solidFill>
            <a:srgbClr val="F0389B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2103120"/>
            <a:ext cx="310896" cy="310896"/>
          </a:xfrm>
          <a:prstGeom prst="ellipse">
            <a:avLst/>
          </a:prstGeom>
          <a:solidFill>
            <a:srgbClr val="FFB454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0" y="2834640"/>
            <a:ext cx="310896" cy="310896"/>
          </a:xfrm>
          <a:prstGeom prst="ellipse">
            <a:avLst/>
          </a:prstGeom>
          <a:solidFill>
            <a:srgbClr val="22D3EE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0" y="3657600"/>
            <a:ext cx="310896" cy="310896"/>
          </a:xfrm>
          <a:prstGeom prst="ellipse">
            <a:avLst/>
          </a:prstGeom>
          <a:solidFill>
            <a:srgbClr val="F0389B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12880" y="4480560"/>
            <a:ext cx="310896" cy="310896"/>
          </a:xfrm>
          <a:prstGeom prst="ellipse">
            <a:avLst/>
          </a:prstGeom>
          <a:solidFill>
            <a:srgbClr val="22D3EE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 440  ·  SECTION 2  ·  GROUP 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6916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Reaction: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87168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Protocol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45643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dependency-free browser strategy game with a tiered, weighted-heuristic AI opponent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31596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Tahmidur Rahman Nafees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2022454642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715000" y="4206240"/>
            <a:ext cx="4663440" cy="960120"/>
          </a:xfrm>
          <a:prstGeom prst="roundRect">
            <a:avLst>
              <a:gd name="adj" fmla="val 7619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97880" y="431596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Sakib Rahman Rohan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8F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2011350042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53492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Electrical &amp; Computer Engineering, North South University   ·   Submitted to: Mohammad Shifat-E-Rabbi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 ·  CSE440, Section 2  ·  Md. Tahmidur Rahman Nafees  ·  Sakib Rahman Rohan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move can repaint half the board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58368" y="1655064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002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91109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one orb into an empty cell or a cell you own.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8368" y="2825496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27706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08152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critical mass the cell empties and fires one orb into each orthogonal neighbour - capturing them.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58368" y="3995928"/>
            <a:ext cx="384048" cy="38404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07008" y="39410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425196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neighbours can go critical too. One placement can sweep the grid.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949440" y="164592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2F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164592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2F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64592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2F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680" y="164592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2F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0" y="164592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2F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22860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2F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22860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2F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22860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E3A5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21624" y="2478024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0" y="22860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2F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0" y="22860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2F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0" y="29260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2F5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0" y="29260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E3A5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81544" y="3118104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29260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0389B"/>
          </a:solidFill>
          <a:ln w="12700">
            <a:solidFill>
              <a:srgbClr val="F0389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869680" y="29260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E3A5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61704" y="3118104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509760" y="29260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2F5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0" y="356616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2F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0" y="356616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2F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0" y="356616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E3A57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21624" y="3758184"/>
            <a:ext cx="182880" cy="1828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69680" y="356616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2F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09760" y="356616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2F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49440" y="42062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2F5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89520" y="42062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2F5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0" y="42062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2F5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69680" y="42062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2F5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509760" y="42062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2F5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949440" y="4919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 cell  →  4 captures  →  possible chain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" y="5138928"/>
            <a:ext cx="5852160" cy="932688"/>
          </a:xfrm>
          <a:prstGeom prst="roundRect">
            <a:avLst>
              <a:gd name="adj" fmla="val 7843"/>
            </a:avLst>
          </a:prstGeom>
          <a:solidFill>
            <a:srgbClr val="16233F"/>
          </a:solidFill>
          <a:ln w="12700">
            <a:solidFill>
              <a:srgbClr val="F0389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41248" y="5248656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3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breaks naive AI:  </a:t>
            </a:r>
            <a:pPr indent="0" marL="0">
              <a:buNone/>
            </a:pPr>
            <a:r>
              <a:rPr lang="en-US" sz="140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move's effect is non-local, so it cannot be judged by how it looks - only by resolving it.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 ·  CSE440, Section 2  ·  Md. Tahmidur Rahman Nafees  ·  Sakib Rahman Rohan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6420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3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2-10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468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players, any mix of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and bot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66160" y="166420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468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dependencies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build step)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66420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3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327648" y="2468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tiers from one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evaluator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69680" y="155448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52560" y="166420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9070848" y="24688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assertions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two test tiers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3730752"/>
            <a:ext cx="256032" cy="25603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360273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engine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3602736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rules and state live in a module that never touches the DOM - so they are testable under plain Node.js.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58368" y="4572000"/>
            <a:ext cx="256032" cy="25603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444398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Simulate-and-score AI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4443984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legal move we actually resolve the cascade on a throwaway board, then score the result.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58368" y="5413248"/>
            <a:ext cx="256032" cy="256032"/>
          </a:xfrm>
          <a:prstGeom prst="ellipse">
            <a:avLst/>
          </a:prstGeom>
          <a:solidFill>
            <a:srgbClr val="FFB4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97280" y="52852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Real-browser verification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5285232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test tier drives the live page - and it is what caught our three worst bugs.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 ·  CSE440, Section 2  ·  Md. Tahmidur Rahman Nafees  ·  Sakib Rahman Rohan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modules, one narrow contract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807208" cy="2331720"/>
          </a:xfrm>
          <a:prstGeom prst="roundRect">
            <a:avLst>
              <a:gd name="adj" fmla="val 3137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10512"/>
            <a:ext cx="201168" cy="20116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0848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main.html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45059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Screens, Canvas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renderer, particles,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Audio, DOM wiring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4015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module that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a DOM exists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81728" y="1600200"/>
            <a:ext cx="2807208" cy="2331720"/>
          </a:xfrm>
          <a:prstGeom prst="roundRect">
            <a:avLst>
              <a:gd name="adj" fmla="val 3137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82896" y="1810512"/>
            <a:ext cx="201168" cy="201168"/>
          </a:xfrm>
          <a:prstGeom prst="ellipse">
            <a:avLst/>
          </a:prstGeom>
          <a:solidFill>
            <a:srgbClr val="F03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82896" y="20848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3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ChainReactionEngine.js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882896" y="245059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state, turn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order, cascade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resolution, 7-event bus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882896" y="34015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- no DOM,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Canvas, no window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723376" y="1600200"/>
            <a:ext cx="2807208" cy="2331720"/>
          </a:xfrm>
          <a:prstGeom prst="roundRect">
            <a:avLst>
              <a:gd name="adj" fmla="val 3137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24544" y="1810512"/>
            <a:ext cx="201168" cy="20116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24544" y="208483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ChainReactionAI.js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924544" y="2450592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simulation,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extraction,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scoring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924544" y="34015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- never mutates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game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456432" y="2139696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handlePlayerClick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(row, col)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11880" y="2670048"/>
            <a:ext cx="932688" cy="0"/>
          </a:xfrm>
          <a:prstGeom prst="line">
            <a:avLst/>
          </a:prstGeom>
          <a:noFill/>
          <a:ln w="19050">
            <a:solidFill>
              <a:srgbClr val="4A5C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611880" y="3035808"/>
            <a:ext cx="932688" cy="0"/>
          </a:xfrm>
          <a:prstGeom prst="line">
            <a:avLst/>
          </a:prstGeom>
          <a:noFill/>
          <a:ln w="19050">
            <a:solidFill>
              <a:srgbClr val="4A5C8A"/>
            </a:solidFill>
            <a:prstDash val="solid"/>
            <a:headEnd type="triangle"/>
          </a:ln>
        </p:spPr>
      </p:sp>
      <p:sp>
        <p:nvSpPr>
          <p:cNvPr id="22" name="Text 20"/>
          <p:cNvSpPr txBox="1"/>
          <p:nvPr/>
        </p:nvSpPr>
        <p:spPr>
          <a:xfrm>
            <a:off x="3456432" y="3127248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on(event, cb)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2523744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getSnapshot()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53528" y="2852928"/>
            <a:ext cx="932688" cy="0"/>
          </a:xfrm>
          <a:prstGeom prst="line">
            <a:avLst/>
          </a:prstGeom>
          <a:noFill/>
          <a:ln w="19050">
            <a:solidFill>
              <a:srgbClr val="4A5C8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40080" y="4315968"/>
            <a:ext cx="10890504" cy="1417320"/>
          </a:xfrm>
          <a:prstGeom prst="roundRect">
            <a:avLst>
              <a:gd name="adj" fmla="val 5161"/>
            </a:avLst>
          </a:prstGeom>
          <a:solidFill>
            <a:srgbClr val="16233F"/>
          </a:solidFill>
          <a:ln w="12700">
            <a:solidFill>
              <a:srgbClr val="2E3E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44439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47548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are independently testable without a browser, and the same engine could sit behind an entirely different frontend. </a:t>
            </a:r>
            <a:pPr indent="0" marL="0">
              <a:buNone/>
            </a:pPr>
            <a:r>
              <a:rPr lang="en-US" sz="14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reads a snapshot and returns a move - it can never corrupt live state.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 ·  CSE440, Section 2  ·  Md. Tahmidur Rahman Nafees  ·  Sakib Rahman Rohan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 ENGINE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Capacity, waves, and why we cap them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F038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3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25880" y="16916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965960" y="16916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659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606040" y="16916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F0389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3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233172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25880" y="233172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2588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965960" y="233172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96596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606040" y="233172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0604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800" y="29718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325880" y="29718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32588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965960" y="29718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6596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606040" y="29718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0604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85800" y="36118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F0389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3611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3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325880" y="36118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325880" y="3611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965960" y="36118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965960" y="3611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606040" y="361188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21A30"/>
          </a:solidFill>
          <a:ln w="12700">
            <a:solidFill>
              <a:srgbClr val="F0389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606040" y="3611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3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3799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= orthogonal neighbour count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727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 2   ·   edge 3   ·   interior 4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114800" y="1719072"/>
            <a:ext cx="219456" cy="21945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26280" y="16276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waves, not recursion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4526280" y="1975104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pass collects every critical cell and explodes them together, then rescans. It matches the physical game and gives the renderer a natural frame to animate.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4114800" y="3136392"/>
            <a:ext cx="219456" cy="219456"/>
          </a:xfrm>
          <a:prstGeom prst="ellipse">
            <a:avLst/>
          </a:prstGeom>
          <a:solidFill>
            <a:srgbClr val="FFB4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26280" y="30449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 count is invariant per wave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4526280" y="3392424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cell loses exactly its capacity and hands out exactly that many. Nothing is destroyed - a cascade ends only when no cell is critical.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4114800" y="4553712"/>
            <a:ext cx="219456" cy="219456"/>
          </a:xfrm>
          <a:prstGeom prst="ellipse">
            <a:avLst/>
          </a:prstGeom>
          <a:solidFill>
            <a:srgbClr val="F03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526280" y="446227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termination is not free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4526280" y="4809744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chip-firing system; symmetric boards need not settle quickly. We enforce a hard ceiling on waves as a correctness property, not an optimisation.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4114800" y="5532120"/>
            <a:ext cx="7434072" cy="658368"/>
          </a:xfrm>
          <a:prstGeom prst="roundRect">
            <a:avLst>
              <a:gd name="adj" fmla="val 11111"/>
            </a:avLst>
          </a:prstGeom>
          <a:solidFill>
            <a:srgbClr val="16233F"/>
          </a:solidFill>
          <a:ln w="12700">
            <a:solidFill>
              <a:srgbClr val="2E3E6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315968" y="565099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emits 7 event types - state_change, explosion, turn_change, player_eliminated, game_over, error, cascade_capped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 ·  CSE440, Section 2  ·  Md. Tahmidur Rahman Nafees  ·  Sakib Rahman Rohan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METHODOLOGY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Simulate, score, select - one ply, done properly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664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43230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the board, play the candidate move, resolve the whole cascade to a fixed point.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43984" y="15544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00016" y="1664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3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00016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700016" y="243230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six numeric features from the resulting position and combine them in a weighted sum.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47888" y="1554480"/>
            <a:ext cx="3611880" cy="1691640"/>
          </a:xfrm>
          <a:prstGeom prst="roundRect">
            <a:avLst>
              <a:gd name="adj" fmla="val 4324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0" y="1664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243230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top-ranked move - or, with probability p, draw from a pool of good moves.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06824" y="2395728"/>
            <a:ext cx="118872" cy="0"/>
          </a:xfrm>
          <a:prstGeom prst="line">
            <a:avLst/>
          </a:prstGeom>
          <a:noFill/>
          <a:ln w="19050">
            <a:solidFill>
              <a:srgbClr val="4A5C8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110728" y="2395728"/>
            <a:ext cx="118872" cy="0"/>
          </a:xfrm>
          <a:prstGeom prst="line">
            <a:avLst/>
          </a:prstGeom>
          <a:noFill/>
          <a:ln w="19050">
            <a:solidFill>
              <a:srgbClr val="4A5C8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40080" y="3520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features, extracted from the position the move actually produces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3950208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121A30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orbDelta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orb material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43984" y="3950208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121A30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45152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cellControl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645152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owned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47888" y="3950208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121A30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49056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corner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449056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cheap-to-hold cells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800600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121A30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1248" y="4873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3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41248" y="5148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to a counter-chain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43984" y="4800600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121A30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45152" y="4873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eliminated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645152" y="5148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opponents knocked to zero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47888" y="4800600"/>
            <a:ext cx="3611880" cy="713232"/>
          </a:xfrm>
          <a:prstGeom prst="roundRect">
            <a:avLst>
              <a:gd name="adj" fmla="val 10256"/>
            </a:avLst>
          </a:prstGeom>
          <a:solidFill>
            <a:srgbClr val="121A30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449056" y="48737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isWin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449056" y="5148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move detection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6235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3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is the only forward-looking feature - and the one that separates the tiers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 ·  CSE440, Section 2  ·  Md. Tahmidur Rahman Nafees  ·  Sakib Rahman Rohan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DIFFICULTY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evaluator. The tiers are just a weight vector.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72768"/>
          <a:ext cx="5029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  <a:gridCol w="10058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Weight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FA0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Easy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2D3E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Medium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038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Hard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FA0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orbDelta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FA0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cellControl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FA0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corner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0389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threat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FA0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eliminated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FA0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chain length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0.3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FA0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randomness 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0.25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EF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32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C3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572768"/>
            <a:ext cx="5513832" cy="3401568"/>
          </a:xfrm>
          <a:prstGeom prst="roundRect">
            <a:avLst>
              <a:gd name="adj" fmla="val 2151"/>
            </a:avLst>
          </a:prstGeom>
          <a:solidFill>
            <a:srgbClr val="121A30"/>
          </a:solidFill>
          <a:ln w="12700">
            <a:solidFill>
              <a:srgbClr val="2E3E6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63640" y="17007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two moves. Opposite verdicts.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20482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A: safer, holds a corner   ·   Move B: more material, 3 cells exposed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98080" y="2478024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1A24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0" y="24780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9.9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006840" y="2478024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006840" y="24780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 10.4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263640" y="291693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wins - material and chain length pay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35661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3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498080" y="3529584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F03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98080" y="35295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12.7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006840" y="3529584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1A24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06840" y="35295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A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 12.3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263640" y="39684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wins - threat weight 1.4 punishes exposure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448056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ranking inverts on identical positions - so the tiers play differently, not just noisily.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4041648"/>
            <a:ext cx="5029200" cy="932688"/>
          </a:xfrm>
          <a:prstGeom prst="roundRect">
            <a:avLst>
              <a:gd name="adj" fmla="val 7843"/>
            </a:avLst>
          </a:prstGeom>
          <a:solidFill>
            <a:srgbClr val="121A30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8680" y="416966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how often the tier ignores its own ranking and draws from a pool of good moves instead.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40080" y="5138928"/>
            <a:ext cx="10908792" cy="932688"/>
          </a:xfrm>
          <a:prstGeom prst="roundRect">
            <a:avLst>
              <a:gd name="adj" fmla="val 7843"/>
            </a:avLst>
          </a:prstGeom>
          <a:solidFill>
            <a:srgbClr val="16233F"/>
          </a:solidFill>
          <a:ln w="12700">
            <a:solidFill>
              <a:srgbClr val="2E3E6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" y="528523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difficulty branching anywhere in the move-selection code.  </a:t>
            </a:r>
            <a:pPr indent="0" marL="0">
              <a:buNone/>
            </a:pPr>
            <a:r>
              <a:rPr lang="en-US" sz="14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is weak because it zeroes threat and picks from a wide random pool 3 turns in 4 - but every tier still takes an available win immediately.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 ·  CSE440, Section 2  ·  Md. Tahmidur Rahman Nafees  ·  Sakib Rahman Rohan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test tiers - and three bugs only one of them could see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2677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assertions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88 + AI 10, plain Node.js, nothing to install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11880" y="1572768"/>
            <a:ext cx="2743200" cy="1371600"/>
          </a:xfrm>
          <a:prstGeom prst="roundRect">
            <a:avLst>
              <a:gd name="adj" fmla="val 5333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13048" y="1645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3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831336" y="22677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assertions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Chromium driving the real page via Playwright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0" y="1572768"/>
            <a:ext cx="4965192" cy="1371600"/>
          </a:xfrm>
          <a:prstGeom prst="roundRect">
            <a:avLst>
              <a:gd name="adj" fmla="val 5333"/>
            </a:avLst>
          </a:prstGeom>
          <a:solidFill>
            <a:srgbClr val="16233F"/>
          </a:solidFill>
          <a:ln w="12700">
            <a:solidFill>
              <a:srgbClr val="2E3E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12280" y="170078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total, 0 failing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830568" y="212140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runs the full suite on every push - the badge on our README is live.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200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only by driving a real browser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21A30"/>
          </a:solidFill>
          <a:ln w="12700">
            <a:solidFill>
              <a:srgbClr val="3A2B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794760"/>
            <a:ext cx="201168" cy="201168"/>
          </a:xfrm>
          <a:prstGeom prst="ellipse">
            <a:avLst/>
          </a:prstGeom>
          <a:solidFill>
            <a:srgbClr val="F03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069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board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40740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bot in the first turn slot never moved: our only trigger was the turn_change event, which correctly never fires for the very first turn.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394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explicit kickoff after match start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43984" y="36118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21A30"/>
          </a:solidFill>
          <a:ln w="12700">
            <a:solidFill>
              <a:srgbClr val="3A2B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72584" y="3794760"/>
            <a:ext cx="201168" cy="201168"/>
          </a:xfrm>
          <a:prstGeom prst="ellipse">
            <a:avLst/>
          </a:prstGeom>
          <a:solidFill>
            <a:srgbClr val="F03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72584" y="4069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Unclickable button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672584" y="440740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mute toggle silently stacked it over the 'leave match' button. Both rendered perfectly. One could not be clicked at any screen size.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672584" y="5394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re-docked into the layout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47888" y="36118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121A30"/>
          </a:solidFill>
          <a:ln w="12700">
            <a:solidFill>
              <a:srgbClr val="3A2B4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76488" y="3794760"/>
            <a:ext cx="201168" cy="201168"/>
          </a:xfrm>
          <a:prstGeom prst="ellipse">
            <a:avLst/>
          </a:prstGeom>
          <a:solidFill>
            <a:srgbClr val="F03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76488" y="4069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476488" y="440740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a match mid bot-delay let a stale callback fire into whatever match replaced it - a reset-in-place defeats an identity check.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8476488" y="5394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session-id guard after each await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 ·  CSE440, Section 2  ·  Md. Tahmidur Rahman Nafees  ·  Sakib Rahman Rohan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tiers actually differ? 400 games say yes.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949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93776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same-tier baseline - a methodology check, not a pairing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863840" y="1600200"/>
            <a:ext cx="3685032" cy="1005840"/>
          </a:xfrm>
          <a:prstGeom prst="roundRect">
            <a:avLst>
              <a:gd name="adj" fmla="val 7273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65008" y="16642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083296" y="21396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beats Easy. Medium beats Easy 74%. The gradient is monotonic.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63840" y="2743200"/>
            <a:ext cx="3685032" cy="1005840"/>
          </a:xfrm>
          <a:prstGeom prst="roundRect">
            <a:avLst>
              <a:gd name="adj" fmla="val 7273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65008" y="28072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03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47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083296" y="328269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vs Hard - near coin-flip, as it must be. This baseline caught a bug in our own scoring script.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863840" y="3886200"/>
            <a:ext cx="3685032" cy="1005840"/>
          </a:xfrm>
          <a:prstGeom prst="roundRect">
            <a:avLst>
              <a:gd name="adj" fmla="val 7273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65008" y="395020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 ms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8083296" y="44256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observed decision, 12x12 board - against a 600 ms thinking budget.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5257800"/>
            <a:ext cx="10908792" cy="841248"/>
          </a:xfrm>
          <a:prstGeom prst="roundRect">
            <a:avLst>
              <a:gd name="adj" fmla="val 8696"/>
            </a:avLst>
          </a:prstGeom>
          <a:solidFill>
            <a:srgbClr val="16233F"/>
          </a:solidFill>
          <a:ln w="12700">
            <a:solidFill>
              <a:srgbClr val="2E3E6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" y="54132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and Hard sit closer together because they differ only in degree - </a:t>
            </a:r>
            <a:pPr indent="0" marL="0">
              <a:buNone/>
            </a:pPr>
            <a:r>
              <a:rPr lang="en-US" sz="14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is handicapped qualitatively: threat weight zero, wide random pool.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 ·  CSE440, Section 2  ·  Md. Tahmidur Rahman Nafees  ·  Sakib Rahman Rohan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HONEST LIMITS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cannot do yet - and what comes next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21A30"/>
          </a:solidFill>
          <a:ln w="12700">
            <a:solidFill>
              <a:srgbClr val="3A2B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3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limits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121408"/>
            <a:ext cx="4983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of the opponent's reply - one ply means no traps, no multi-move plans.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rates come from self-play on one board size; humans err differently.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hand-chosen features - the AI and our evaluation of it share one lens.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00200"/>
            <a:ext cx="5376672" cy="2103120"/>
          </a:xfrm>
          <a:prstGeom prst="roundRect">
            <a:avLst>
              <a:gd name="adj" fmla="val 3478"/>
            </a:avLst>
          </a:prstGeom>
          <a:solidFill>
            <a:srgbClr val="121A30"/>
          </a:solidFill>
          <a:ln w="12700">
            <a:solidFill>
              <a:srgbClr val="1F3C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2140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expectimax layered on top of the existing evaluator.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against a minimax opponent - single-ply depth vs search depth.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Networked multiplayer, persisted stats, and a keyboard path to place an orb.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lessons that outlive this project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43434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4526280"/>
            <a:ext cx="201168" cy="20116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791456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cascade system needs an explicit termination bound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1206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Chip-firing gives no fast-convergence guarantee. The wave cap is a correctness property, not a performance tweak.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43434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4526280"/>
            <a:ext cx="201168" cy="20116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4791456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key a staleness check on object identity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51206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shared state can be reset in place rather than replaced, identity is exactly the check a reset defeats. Use a session counter.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 ·  CSE440, Section 2  ·  Md. Tahmidur Rahman Nafees  ·  Sakib Rahman Rohan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914400"/>
            <a:ext cx="438912" cy="43891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30077" y="1207008"/>
            <a:ext cx="438912" cy="438912"/>
          </a:xfrm>
          <a:prstGeom prst="ellipse">
            <a:avLst/>
          </a:prstGeom>
          <a:solidFill>
            <a:srgbClr val="F0389B"/>
          </a:solidFill>
          <a:ln w="12700">
            <a:solidFill>
              <a:srgbClr val="F0389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49686" y="1645920"/>
            <a:ext cx="438912" cy="438912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minute of gameplay, then the repo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22960" y="274320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218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58444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 screen capture - menu, a real cascade, a bot closing out a win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11880" y="274320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3218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 commits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358444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home page, then a scroll through the commit history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274320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2940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38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3218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&amp; AI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58444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ChainReactionEngine.js, ChainReactionAI.js, the event contract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89720" y="274320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141C33"/>
          </a:solidFill>
          <a:ln w="12700">
            <a:solidFill>
              <a:srgbClr val="2632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18320" y="2880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0" y="3218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CI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418320" y="3584448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suites, the Playwright e2e suite, GitHub Actions workflow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29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github.com/tahmidnafees619/ChainReaction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- questions welcome.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38251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 ·  CSE440, Section 2  ·  Md. Tahmidur Rahman Nafees  ·  Sakib Rahman Rohan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Chain Reaction: Nexus Protocol</dc:title>
  <dc:subject>PptxGenJS Presentation</dc:subject>
  <dc:creator>Group A - CSE440 Section 2</dc:creator>
  <cp:lastModifiedBy>Group A - CSE440 Section 2</cp:lastModifiedBy>
  <cp:revision>1</cp:revision>
  <dcterms:created xsi:type="dcterms:W3CDTF">2026-08-26T19:59:36Z</dcterms:created>
  <dcterms:modified xsi:type="dcterms:W3CDTF">2026-08-26T19:59:36Z</dcterms:modified>
</cp:coreProperties>
</file>